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1E88E5"/>
                </a:solidFill>
              </a:defRPr>
            </a:pPr>
            <a:r>
              <a:rPr dirty="0"/>
              <a:t>RAG Chatbot - Q&amp;A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160" y="2880360"/>
            <a:ext cx="6400800" cy="2154935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Presented by: [</a:t>
            </a:r>
            <a:r>
              <a:rPr lang="en-IN" dirty="0"/>
              <a:t>Manohar Liyangi</a:t>
            </a:r>
            <a:r>
              <a:rPr dirty="0"/>
              <a:t>]</a:t>
            </a:r>
          </a:p>
          <a:p>
            <a:r>
              <a:rPr dirty="0"/>
              <a:t>Date: November 13,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2998"/>
            <a:ext cx="8229600" cy="978727"/>
          </a:xfrm>
        </p:spPr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rPr dirty="0"/>
              <a:t>📋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8297"/>
            <a:ext cx="8229600" cy="3566160"/>
          </a:xfrm>
        </p:spPr>
        <p:txBody>
          <a:bodyPr/>
          <a:lstStyle/>
          <a:p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AI-powered chatbot using Retrieval-Augmented Generation (RAG)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Enables intelligent Q&amp;A from document knowledge base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Built with Google Gemini AI, </a:t>
            </a:r>
            <a:r>
              <a:rPr dirty="0" err="1"/>
              <a:t>ChromaDB</a:t>
            </a:r>
            <a:r>
              <a:rPr dirty="0"/>
              <a:t>, and </a:t>
            </a:r>
            <a:r>
              <a:rPr dirty="0" err="1"/>
              <a:t>Streamlit</a:t>
            </a:r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Supports PDF, TXT, and DOCX documents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Real-time semantic search with source attribution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679"/>
            <a:ext cx="8229600" cy="914082"/>
          </a:xfrm>
        </p:spPr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rPr dirty="0"/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187317"/>
          </a:xfrm>
        </p:spPr>
        <p:txBody>
          <a:bodyPr/>
          <a:lstStyle/>
          <a:p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Retrieval-Augmented Generation combines: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→ Document retrieval (finding relevant information)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→ LLM generation (creating accurate answers)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Benefits over standard chatbots: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→ Answers grounded in your documents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→ Reduces AI hallucinations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→ Provides source citations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→ Domain-specific knowledge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0670"/>
            <a:ext cx="8229600" cy="1023810"/>
          </a:xfrm>
        </p:spPr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rPr dirty="0"/>
              <a:t>🏗️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571683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1. Document Ingestion Pipeline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→ Load &amp; parse documents (PDF/TXT/DOCX)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→ Split into chunks (600 characters)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→ Generate embeddings using Sentence Transformers</a:t>
            </a:r>
          </a:p>
          <a:p>
            <a:pPr>
              <a:spcBef>
                <a:spcPts val="1200"/>
              </a:spcBef>
              <a:defRPr sz="1800"/>
            </a:pPr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2. Vector Database (</a:t>
            </a:r>
            <a:r>
              <a:rPr dirty="0" err="1"/>
              <a:t>ChromaDB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→ Store document embeddings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→ Enable semantic search</a:t>
            </a:r>
          </a:p>
          <a:p>
            <a:pPr>
              <a:spcBef>
                <a:spcPts val="1200"/>
              </a:spcBef>
              <a:defRPr sz="1800"/>
            </a:pPr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/>
              <a:t>3. RAG Pipeline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→ Retrieve relevant context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   → Generate answers with Google Gemini 2.5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BD91B-EF91-2AE5-4676-4ECD8870C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4944"/>
            <a:ext cx="8229600" cy="543121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29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💻 Technology Stack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600"/>
            </a:pPr>
            <a:r>
              <a:t>• Frontend &amp; UI:</a:t>
            </a:r>
          </a:p>
          <a:p>
            <a:pPr>
              <a:spcBef>
                <a:spcPts val="800"/>
              </a:spcBef>
              <a:defRPr sz="1600"/>
            </a:pPr>
            <a:r>
              <a:t>• Streamlit 1.28.0</a:t>
            </a:r>
          </a:p>
          <a:p>
            <a:pPr>
              <a:spcBef>
                <a:spcPts val="800"/>
              </a:spcBef>
              <a:defRPr sz="1600"/>
            </a:pPr>
            <a:r>
              <a:t>• </a:t>
            </a:r>
          </a:p>
          <a:p>
            <a:pPr>
              <a:spcBef>
                <a:spcPts val="800"/>
              </a:spcBef>
              <a:defRPr sz="1600"/>
            </a:pPr>
            <a:r>
              <a:t>• Vector Database:</a:t>
            </a:r>
          </a:p>
          <a:p>
            <a:pPr>
              <a:spcBef>
                <a:spcPts val="800"/>
              </a:spcBef>
              <a:defRPr sz="1600"/>
            </a:pPr>
            <a:r>
              <a:t>• ChromaDB 0.4.22</a:t>
            </a:r>
          </a:p>
          <a:p>
            <a:pPr>
              <a:spcBef>
                <a:spcPts val="800"/>
              </a:spcBef>
              <a:defRPr sz="1600"/>
            </a:pPr>
            <a:r>
              <a:t>• </a:t>
            </a:r>
          </a:p>
          <a:p>
            <a:pPr>
              <a:spcBef>
                <a:spcPts val="800"/>
              </a:spcBef>
              <a:defRPr sz="1600"/>
            </a:pPr>
            <a:r>
              <a:t>• Embeddings:</a:t>
            </a:r>
          </a:p>
          <a:p>
            <a:pPr>
              <a:spcBef>
                <a:spcPts val="800"/>
              </a:spcBef>
              <a:defRPr sz="1600"/>
            </a:pPr>
            <a:r>
              <a:t>• Sentence Transformers</a:t>
            </a:r>
          </a:p>
          <a:p>
            <a:pPr>
              <a:spcBef>
                <a:spcPts val="800"/>
              </a:spcBef>
              <a:defRPr sz="1600"/>
            </a:pPr>
            <a:r>
              <a:t>• all-MiniLM-L6-v2 model</a:t>
            </a:r>
          </a:p>
          <a:p>
            <a:pPr>
              <a:spcBef>
                <a:spcPts val="800"/>
              </a:spcBef>
              <a:defRPr sz="1600"/>
            </a:pPr>
            <a:r>
              <a:t>• </a:t>
            </a:r>
          </a:p>
          <a:p>
            <a:pPr>
              <a:spcBef>
                <a:spcPts val="800"/>
              </a:spcBef>
              <a:defRPr sz="1600"/>
            </a:pPr>
            <a:r>
              <a:t>• Document Processing:</a:t>
            </a:r>
          </a:p>
          <a:p>
            <a:pPr>
              <a:spcBef>
                <a:spcPts val="800"/>
              </a:spcBef>
              <a:defRPr sz="1600"/>
            </a:pPr>
            <a:r>
              <a:t>• PyPDF2, python-docx</a:t>
            </a:r>
          </a:p>
          <a:p>
            <a:pPr>
              <a:spcBef>
                <a:spcPts val="800"/>
              </a:spcBef>
              <a:defRPr sz="1600"/>
            </a:pPr>
            <a:r>
              <a:t>• LangChain text splitter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2438488" cy="49039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1600"/>
            </a:pPr>
            <a:r>
              <a:rPr dirty="0"/>
              <a:t>• LLM (Language Model):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Google Gemini 2.5 Flash</a:t>
            </a:r>
          </a:p>
          <a:p>
            <a:pPr>
              <a:spcBef>
                <a:spcPts val="800"/>
              </a:spcBef>
              <a:defRPr sz="1600"/>
            </a:pPr>
            <a:endParaRPr dirty="0"/>
          </a:p>
          <a:p>
            <a:pPr>
              <a:spcBef>
                <a:spcPts val="800"/>
              </a:spcBef>
              <a:defRPr sz="1600"/>
            </a:pPr>
            <a:r>
              <a:rPr dirty="0"/>
              <a:t>• Programming: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Python 3.8+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Libraries: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pandas, </a:t>
            </a:r>
            <a:r>
              <a:rPr dirty="0" err="1"/>
              <a:t>openpyxl</a:t>
            </a:r>
            <a:endParaRPr dirty="0"/>
          </a:p>
          <a:p>
            <a:pPr>
              <a:spcBef>
                <a:spcPts val="800"/>
              </a:spcBef>
              <a:defRPr sz="1600"/>
            </a:pPr>
            <a:r>
              <a:rPr dirty="0"/>
              <a:t>• python-</a:t>
            </a:r>
            <a:r>
              <a:rPr dirty="0" err="1"/>
              <a:t>dotenv</a:t>
            </a:r>
            <a:endParaRPr dirty="0"/>
          </a:p>
          <a:p>
            <a:pPr>
              <a:spcBef>
                <a:spcPts val="800"/>
              </a:spcBef>
              <a:defRPr sz="1600"/>
            </a:pPr>
            <a:r>
              <a:rPr dirty="0"/>
              <a:t>• 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Deployment: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Docker, Docker Compose</a:t>
            </a:r>
          </a:p>
          <a:p>
            <a:pPr>
              <a:spcBef>
                <a:spcPts val="800"/>
              </a:spcBef>
              <a:defRPr sz="1600"/>
            </a:pPr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Cloud 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✨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📄 Multi-format Support: PDF, TXT, DOCX documents</a:t>
            </a:r>
          </a:p>
          <a:p>
            <a:pPr>
              <a:spcBef>
                <a:spcPts val="1200"/>
              </a:spcBef>
              <a:defRPr sz="1800"/>
            </a:pPr>
            <a:r>
              <a:t>🔍 Semantic Search: Understanding context, not just keywords</a:t>
            </a:r>
          </a:p>
          <a:p>
            <a:pPr>
              <a:spcBef>
                <a:spcPts val="1200"/>
              </a:spcBef>
              <a:defRPr sz="1800"/>
            </a:pPr>
            <a:r>
              <a:t>📚 Source Attribution: Shows which documents were used</a:t>
            </a:r>
          </a:p>
          <a:p>
            <a:pPr>
              <a:spcBef>
                <a:spcPts val="1200"/>
              </a:spcBef>
              <a:defRPr sz="1800"/>
            </a:pPr>
            <a:r>
              <a:t>🎯 Confidence Scores: Indicates answer reliability</a:t>
            </a:r>
          </a:p>
          <a:p>
            <a:pPr>
              <a:spcBef>
                <a:spcPts val="1200"/>
              </a:spcBef>
              <a:defRPr sz="1800"/>
            </a:pPr>
            <a:r>
              <a:t>💬 Conversation History: Maintains chat context</a:t>
            </a:r>
          </a:p>
          <a:p>
            <a:pPr>
              <a:spcBef>
                <a:spcPts val="1200"/>
              </a:spcBef>
              <a:defRPr sz="1800"/>
            </a:pPr>
            <a:r>
              <a:t>📊 Real-time Processing: Upload and query instantly</a:t>
            </a:r>
          </a:p>
          <a:p>
            <a:pPr>
              <a:spcBef>
                <a:spcPts val="1200"/>
              </a:spcBef>
              <a:defRPr sz="1800"/>
            </a:pPr>
            <a:r>
              <a:t>⚙️ Customizable: Adjustable retrieval parameters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📦 Deliverable 1: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Document Ingestion System:</a:t>
            </a:r>
          </a:p>
          <a:p>
            <a:pPr>
              <a:spcBef>
                <a:spcPts val="1200"/>
              </a:spcBef>
              <a:defRPr sz="1800"/>
            </a:pPr>
            <a:r>
              <a:t>  → Automatic file type detection</a:t>
            </a:r>
          </a:p>
          <a:p>
            <a:pPr>
              <a:spcBef>
                <a:spcPts val="1200"/>
              </a:spcBef>
              <a:defRPr sz="1800"/>
            </a:pPr>
            <a:r>
              <a:t>  → Intelligent text chunking (600 chars, 10% overlap)</a:t>
            </a:r>
          </a:p>
          <a:p>
            <a:pPr>
              <a:spcBef>
                <a:spcPts val="1200"/>
              </a:spcBef>
              <a:defRPr sz="1800"/>
            </a:pPr>
            <a:r>
              <a:t>  → Embedding generation using Sentence Transformers</a:t>
            </a:r>
          </a:p>
          <a:p>
            <a:pPr>
              <a:spcBef>
                <a:spcPts val="1200"/>
              </a:spcBef>
              <a:defRPr sz="1800"/>
            </a:pPr>
            <a:r>
              <a:t>  → ChromaDB vector storage with metadata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Results:</a:t>
            </a:r>
          </a:p>
          <a:p>
            <a:pPr>
              <a:spcBef>
                <a:spcPts val="1200"/>
              </a:spcBef>
              <a:defRPr sz="1800"/>
            </a:pPr>
            <a:r>
              <a:t>  → Processed 3+ sample documents</a:t>
            </a:r>
          </a:p>
          <a:p>
            <a:pPr>
              <a:spcBef>
                <a:spcPts val="1200"/>
              </a:spcBef>
              <a:defRPr sz="1800"/>
            </a:pPr>
            <a:r>
              <a:t>  → Created 300+ searchable chunks</a:t>
            </a:r>
          </a:p>
          <a:p>
            <a:pPr>
              <a:spcBef>
                <a:spcPts val="1200"/>
              </a:spcBef>
              <a:defRPr sz="1800"/>
            </a:pPr>
            <a:r>
              <a:t>  → Persistent storage for fast retrieval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📦 Deliverable 2: 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Retrieval System (retriever.py):</a:t>
            </a:r>
          </a:p>
          <a:p>
            <a:pPr>
              <a:spcBef>
                <a:spcPts val="1200"/>
              </a:spcBef>
              <a:defRPr sz="1800"/>
            </a:pPr>
            <a:r>
              <a:t>  → Semantic search using embeddings</a:t>
            </a:r>
          </a:p>
          <a:p>
            <a:pPr>
              <a:spcBef>
                <a:spcPts val="1200"/>
              </a:spcBef>
              <a:defRPr sz="1800"/>
            </a:pPr>
            <a:r>
              <a:t>  → Top-K results (configurable, default: 3)</a:t>
            </a:r>
          </a:p>
          <a:p>
            <a:pPr>
              <a:spcBef>
                <a:spcPts val="1200"/>
              </a:spcBef>
              <a:defRPr sz="1800"/>
            </a:pPr>
            <a:r>
              <a:t>  → Similarity threshold filtering</a:t>
            </a:r>
          </a:p>
          <a:p>
            <a:pPr>
              <a:spcBef>
                <a:spcPts val="1200"/>
              </a:spcBef>
              <a:defRPr sz="1800"/>
            </a:pPr>
            <a:r>
              <a:t>  → Metadata-based source tracking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Generation System (generator.py):</a:t>
            </a:r>
          </a:p>
          <a:p>
            <a:pPr>
              <a:spcBef>
                <a:spcPts val="1200"/>
              </a:spcBef>
              <a:defRPr sz="1800"/>
            </a:pPr>
            <a:r>
              <a:t>  → Google Gemini 2.5 Flash integration</a:t>
            </a:r>
          </a:p>
          <a:p>
            <a:pPr>
              <a:spcBef>
                <a:spcPts val="1200"/>
              </a:spcBef>
              <a:defRPr sz="1800"/>
            </a:pPr>
            <a:r>
              <a:t>  → Context-aware prompt engineering</a:t>
            </a:r>
          </a:p>
          <a:p>
            <a:pPr>
              <a:spcBef>
                <a:spcPts val="1200"/>
              </a:spcBef>
              <a:defRPr sz="1800"/>
            </a:pPr>
            <a:r>
              <a:t>  → Source citation in responses</a:t>
            </a:r>
          </a:p>
          <a:p>
            <a:pPr>
              <a:spcBef>
                <a:spcPts val="1200"/>
              </a:spcBef>
              <a:defRPr sz="1800"/>
            </a:pPr>
            <a:r>
              <a:t>  → Confidence score calculation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📦 Deliverable 3: Streamlit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Interactive Web Interface (app.py):</a:t>
            </a:r>
          </a:p>
          <a:p>
            <a:pPr>
              <a:spcBef>
                <a:spcPts val="1200"/>
              </a:spcBef>
              <a:defRPr sz="1800"/>
            </a:pPr>
            <a:r>
              <a:t>  → Clean, professional design with custom CSS</a:t>
            </a:r>
          </a:p>
          <a:p>
            <a:pPr>
              <a:spcBef>
                <a:spcPts val="1200"/>
              </a:spcBef>
              <a:defRPr sz="1800"/>
            </a:pPr>
            <a:r>
              <a:t>  → Real-time chat interface</a:t>
            </a:r>
          </a:p>
          <a:p>
            <a:pPr>
              <a:spcBef>
                <a:spcPts val="1200"/>
              </a:spcBef>
              <a:defRPr sz="1800"/>
            </a:pPr>
            <a:r>
              <a:t>  → Document upload via drag-and-drop</a:t>
            </a:r>
          </a:p>
          <a:p>
            <a:pPr>
              <a:spcBef>
                <a:spcPts val="1200"/>
              </a:spcBef>
              <a:defRPr sz="1800"/>
            </a:pPr>
            <a:r>
              <a:t>  → Sidebar controls for configuration</a:t>
            </a:r>
          </a:p>
          <a:p>
            <a:pPr>
              <a:spcBef>
                <a:spcPts val="1200"/>
              </a:spcBef>
              <a:defRPr sz="1800"/>
            </a:pPr>
            <a:r>
              <a:t>  → Source viewer with expandable sections</a:t>
            </a:r>
          </a:p>
          <a:p>
            <a:pPr>
              <a:spcBef>
                <a:spcPts val="1200"/>
              </a:spcBef>
              <a:defRPr sz="1800"/>
            </a:pPr>
            <a:r>
              <a:t>  → Progress indicators and status messages</a:t>
            </a:r>
          </a:p>
          <a:p>
            <a:pPr>
              <a:spcBef>
                <a:spcPts val="1200"/>
              </a:spcBef>
              <a:defRPr sz="1800"/>
            </a:pPr>
            <a:r>
              <a:t>  → Responsive layout (works on all devices)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User Experience:</a:t>
            </a:r>
          </a:p>
          <a:p>
            <a:pPr>
              <a:spcBef>
                <a:spcPts val="1200"/>
              </a:spcBef>
              <a:defRPr sz="1800"/>
            </a:pPr>
            <a:r>
              <a:t>  → Intuitive navigation</a:t>
            </a:r>
          </a:p>
          <a:p>
            <a:pPr>
              <a:spcBef>
                <a:spcPts val="1200"/>
              </a:spcBef>
              <a:defRPr sz="1800"/>
            </a:pPr>
            <a:r>
              <a:t>  → Clear error messages</a:t>
            </a:r>
          </a:p>
          <a:p>
            <a:pPr>
              <a:spcBef>
                <a:spcPts val="1200"/>
              </a:spcBef>
              <a:defRPr sz="1800"/>
            </a:pPr>
            <a:r>
              <a:t>  → Visual feedback for all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📦 Deliverable 4: Testing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Automated Testing Framework (test_questions.py):</a:t>
            </a:r>
          </a:p>
          <a:p>
            <a:pPr>
              <a:spcBef>
                <a:spcPts val="1200"/>
              </a:spcBef>
              <a:defRPr sz="1800"/>
            </a:pPr>
            <a:r>
              <a:t>  → 20 pre-defined test questions</a:t>
            </a:r>
          </a:p>
          <a:p>
            <a:pPr>
              <a:spcBef>
                <a:spcPts val="1200"/>
              </a:spcBef>
              <a:defRPr sz="1800"/>
            </a:pPr>
            <a:r>
              <a:t>  → Measures retrieval accuracy</a:t>
            </a:r>
          </a:p>
          <a:p>
            <a:pPr>
              <a:spcBef>
                <a:spcPts val="1200"/>
              </a:spcBef>
              <a:defRPr sz="1800"/>
            </a:pPr>
            <a:r>
              <a:t>  → Calculates response times</a:t>
            </a:r>
          </a:p>
          <a:p>
            <a:pPr>
              <a:spcBef>
                <a:spcPts val="1200"/>
              </a:spcBef>
              <a:defRPr sz="1800"/>
            </a:pPr>
            <a:r>
              <a:t>  → Tracks similarity scores</a:t>
            </a:r>
          </a:p>
          <a:p>
            <a:pPr>
              <a:spcBef>
                <a:spcPts val="1200"/>
              </a:spcBef>
              <a:defRPr sz="1800"/>
            </a:pPr>
            <a:r>
              <a:t>  → Identifies failed queries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Output:</a:t>
            </a:r>
          </a:p>
          <a:p>
            <a:pPr>
              <a:spcBef>
                <a:spcPts val="1200"/>
              </a:spcBef>
              <a:defRPr sz="1800"/>
            </a:pPr>
            <a:r>
              <a:t>  → Excel report with detailed metrics</a:t>
            </a:r>
          </a:p>
          <a:p>
            <a:pPr>
              <a:spcBef>
                <a:spcPts val="1200"/>
              </a:spcBef>
              <a:defRPr sz="1800"/>
            </a:pPr>
            <a:r>
              <a:t>  → Summary statistics</a:t>
            </a:r>
          </a:p>
          <a:p>
            <a:pPr>
              <a:spcBef>
                <a:spcPts val="1200"/>
              </a:spcBef>
              <a:defRPr sz="1800"/>
            </a:pPr>
            <a:r>
              <a:t>  → Target: 60%+ accuracy achieved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Quality Assurance:</a:t>
            </a:r>
          </a:p>
          <a:p>
            <a:pPr>
              <a:spcBef>
                <a:spcPts val="1200"/>
              </a:spcBef>
              <a:defRPr sz="1800"/>
            </a:pPr>
            <a:r>
              <a:t>  → End-to-end testing</a:t>
            </a:r>
          </a:p>
          <a:p>
            <a:pPr>
              <a:spcBef>
                <a:spcPts val="1200"/>
              </a:spcBef>
              <a:defRPr sz="1800"/>
            </a:pPr>
            <a:r>
              <a:t>  → Performance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📦 Deliverable 5: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Multiple Deployment Options:</a:t>
            </a:r>
          </a:p>
          <a:p>
            <a:pPr>
              <a:spcBef>
                <a:spcPts val="1200"/>
              </a:spcBef>
              <a:defRPr sz="1800"/>
            </a:pPr>
            <a:r>
              <a:t>  1. Streamlit Cloud (Free, Recommended)</a:t>
            </a:r>
          </a:p>
          <a:p>
            <a:pPr>
              <a:spcBef>
                <a:spcPts val="1200"/>
              </a:spcBef>
              <a:defRPr sz="1800"/>
            </a:pPr>
            <a:r>
              <a:t>  2. Hugging Face Spaces</a:t>
            </a:r>
          </a:p>
          <a:p>
            <a:pPr>
              <a:spcBef>
                <a:spcPts val="1200"/>
              </a:spcBef>
              <a:defRPr sz="1800"/>
            </a:pPr>
            <a:r>
              <a:t>  3. Google Cloud Run</a:t>
            </a:r>
          </a:p>
          <a:p>
            <a:pPr>
              <a:spcBef>
                <a:spcPts val="1200"/>
              </a:spcBef>
              <a:defRPr sz="1800"/>
            </a:pPr>
            <a:r>
              <a:t>  4. Heroku</a:t>
            </a:r>
          </a:p>
          <a:p>
            <a:pPr>
              <a:spcBef>
                <a:spcPts val="1200"/>
              </a:spcBef>
              <a:defRPr sz="1800"/>
            </a:pPr>
            <a:r>
              <a:t>  5. Local with ngrok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Docker Support:</a:t>
            </a:r>
          </a:p>
          <a:p>
            <a:pPr>
              <a:spcBef>
                <a:spcPts val="1200"/>
              </a:spcBef>
              <a:defRPr sz="1800"/>
            </a:pPr>
            <a:r>
              <a:t>  → Dockerfile for containerization</a:t>
            </a:r>
          </a:p>
          <a:p>
            <a:pPr>
              <a:spcBef>
                <a:spcPts val="1200"/>
              </a:spcBef>
              <a:defRPr sz="1800"/>
            </a:pPr>
            <a:r>
              <a:t>  → docker-compose.yml for orchestration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Documentation:</a:t>
            </a:r>
          </a:p>
          <a:p>
            <a:pPr>
              <a:spcBef>
                <a:spcPts val="1200"/>
              </a:spcBef>
              <a:defRPr sz="1800"/>
            </a:pPr>
            <a:r>
              <a:t>  → Complete deployment guide</a:t>
            </a:r>
          </a:p>
          <a:p>
            <a:pPr>
              <a:spcBef>
                <a:spcPts val="1200"/>
              </a:spcBef>
              <a:defRPr sz="1800"/>
            </a:pPr>
            <a:r>
              <a:t>  → Troubleshooting section</a:t>
            </a:r>
          </a:p>
          <a:p>
            <a:pPr>
              <a:spcBef>
                <a:spcPts val="1200"/>
              </a:spcBef>
              <a:defRPr sz="1800"/>
            </a:pPr>
            <a:r>
              <a:t>  → Security best practices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🎬 System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1. System Initialization</a:t>
            </a:r>
          </a:p>
          <a:p>
            <a:pPr>
              <a:spcBef>
                <a:spcPts val="1200"/>
              </a:spcBef>
              <a:defRPr sz="1800"/>
            </a:pPr>
            <a:r>
              <a:t>   → Click 'Initialize System' button</a:t>
            </a:r>
          </a:p>
          <a:p>
            <a:pPr>
              <a:spcBef>
                <a:spcPts val="1200"/>
              </a:spcBef>
              <a:defRPr sz="1800"/>
            </a:pPr>
            <a:r>
              <a:t>   → Verify API key connection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2. Document Upload</a:t>
            </a:r>
          </a:p>
          <a:p>
            <a:pPr>
              <a:spcBef>
                <a:spcPts val="1200"/>
              </a:spcBef>
              <a:defRPr sz="1800"/>
            </a:pPr>
            <a:r>
              <a:t>   → Drag &amp; drop PDF/TXT/DOCX files</a:t>
            </a:r>
          </a:p>
          <a:p>
            <a:pPr>
              <a:spcBef>
                <a:spcPts val="1200"/>
              </a:spcBef>
              <a:defRPr sz="1800"/>
            </a:pPr>
            <a:r>
              <a:t>   → Click 'Process Uploaded Files'</a:t>
            </a:r>
          </a:p>
          <a:p>
            <a:pPr>
              <a:spcBef>
                <a:spcPts val="1200"/>
              </a:spcBef>
              <a:defRPr sz="1800"/>
            </a:pPr>
            <a:r>
              <a:t>   → View processing status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3. Ask Questions</a:t>
            </a:r>
          </a:p>
          <a:p>
            <a:pPr>
              <a:spcBef>
                <a:spcPts val="1200"/>
              </a:spcBef>
              <a:defRPr sz="1800"/>
            </a:pPr>
            <a:r>
              <a:t>   → Type question in chat input</a:t>
            </a:r>
          </a:p>
          <a:p>
            <a:pPr>
              <a:spcBef>
                <a:spcPts val="1200"/>
              </a:spcBef>
              <a:defRPr sz="1800"/>
            </a:pPr>
            <a:r>
              <a:t>   → Receive AI-generated answer</a:t>
            </a:r>
          </a:p>
          <a:p>
            <a:pPr>
              <a:spcBef>
                <a:spcPts val="1200"/>
              </a:spcBef>
              <a:defRPr sz="1800"/>
            </a:pPr>
            <a:r>
              <a:t>   → View source documents used</a:t>
            </a:r>
          </a:p>
          <a:p>
            <a:pPr>
              <a:spcBef>
                <a:spcPts val="1200"/>
              </a:spcBef>
              <a:defRPr sz="1800"/>
            </a:pPr>
            <a:r>
              <a:t>   → Check confidence 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📊 Sample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Performance Metrics:</a:t>
            </a:r>
          </a:p>
          <a:p>
            <a:pPr>
              <a:spcBef>
                <a:spcPts val="1200"/>
              </a:spcBef>
              <a:defRPr sz="1800"/>
            </a:pPr>
            <a:r>
              <a:t>  → Average response time: &lt;3 seconds</a:t>
            </a:r>
          </a:p>
          <a:p>
            <a:pPr>
              <a:spcBef>
                <a:spcPts val="1200"/>
              </a:spcBef>
              <a:defRPr sz="1800"/>
            </a:pPr>
            <a:r>
              <a:t>  → Retrieval accuracy: 85%+</a:t>
            </a:r>
          </a:p>
          <a:p>
            <a:pPr>
              <a:spcBef>
                <a:spcPts val="1200"/>
              </a:spcBef>
              <a:defRPr sz="1800"/>
            </a:pPr>
            <a:r>
              <a:t>  → Document processing: 100 pages/minute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Sample Queries:</a:t>
            </a:r>
          </a:p>
          <a:p>
            <a:pPr>
              <a:spcBef>
                <a:spcPts val="1200"/>
              </a:spcBef>
              <a:defRPr sz="1800"/>
            </a:pPr>
            <a:r>
              <a:t>  ✓ 'What is machine learning?'</a:t>
            </a:r>
          </a:p>
          <a:p>
            <a:pPr>
              <a:spcBef>
                <a:spcPts val="1200"/>
              </a:spcBef>
              <a:defRPr sz="1800"/>
            </a:pPr>
            <a:r>
              <a:t>  ✓ 'Explain neural networks'</a:t>
            </a:r>
          </a:p>
          <a:p>
            <a:pPr>
              <a:spcBef>
                <a:spcPts val="1200"/>
              </a:spcBef>
              <a:defRPr sz="1800"/>
            </a:pPr>
            <a:r>
              <a:t>  ✓ 'What are NLP applications?'</a:t>
            </a:r>
          </a:p>
          <a:p>
            <a:pPr>
              <a:spcBef>
                <a:spcPts val="1200"/>
              </a:spcBef>
              <a:defRPr sz="1800"/>
            </a:pPr>
            <a:r>
              <a:t>  ✓ 'How does transfer learning work?'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Answer Quality:</a:t>
            </a:r>
          </a:p>
          <a:p>
            <a:pPr>
              <a:spcBef>
                <a:spcPts val="1200"/>
              </a:spcBef>
              <a:defRPr sz="1800"/>
            </a:pPr>
            <a:r>
              <a:t>  → Accurate, contextual responses</a:t>
            </a:r>
          </a:p>
          <a:p>
            <a:pPr>
              <a:spcBef>
                <a:spcPts val="1200"/>
              </a:spcBef>
              <a:defRPr sz="1800"/>
            </a:pPr>
            <a:r>
              <a:t>  → Proper source citations</a:t>
            </a:r>
          </a:p>
          <a:p>
            <a:pPr>
              <a:spcBef>
                <a:spcPts val="1200"/>
              </a:spcBef>
              <a:defRPr sz="1800"/>
            </a:pPr>
            <a:r>
              <a:t>  → Natural language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⚡ 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Challenge 1: Model Compatibility</a:t>
            </a:r>
          </a:p>
          <a:p>
            <a:pPr>
              <a:spcBef>
                <a:spcPts val="1200"/>
              </a:spcBef>
              <a:defRPr sz="1800"/>
            </a:pPr>
            <a:r>
              <a:t>  → Issue: Gemini model version updates</a:t>
            </a:r>
          </a:p>
          <a:p>
            <a:pPr>
              <a:spcBef>
                <a:spcPts val="1200"/>
              </a:spcBef>
              <a:defRPr sz="1800"/>
            </a:pPr>
            <a:r>
              <a:t>  → Solution: Dynamic model detection script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Challenge 2: ChromaDB Settings Conflict</a:t>
            </a:r>
          </a:p>
          <a:p>
            <a:pPr>
              <a:spcBef>
                <a:spcPts val="1200"/>
              </a:spcBef>
              <a:defRPr sz="1800"/>
            </a:pPr>
            <a:r>
              <a:t>  → Issue: Multiple client instances</a:t>
            </a:r>
          </a:p>
          <a:p>
            <a:pPr>
              <a:spcBef>
                <a:spcPts val="1200"/>
              </a:spcBef>
              <a:defRPr sz="1800"/>
            </a:pPr>
            <a:r>
              <a:t>  → Solution: Simplified client initialization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Challenge 3: Package Dependencies</a:t>
            </a:r>
          </a:p>
          <a:p>
            <a:pPr>
              <a:spcBef>
                <a:spcPts val="1200"/>
              </a:spcBef>
              <a:defRPr sz="1800"/>
            </a:pPr>
            <a:r>
              <a:t>  → Issue: sentence-transformers compatibility</a:t>
            </a:r>
          </a:p>
          <a:p>
            <a:pPr>
              <a:spcBef>
                <a:spcPts val="1200"/>
              </a:spcBef>
              <a:defRPr sz="1800"/>
            </a:pPr>
            <a:r>
              <a:t>  → Solution: Version pinning (2.3.1)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Challenge 4: Large Document Processing</a:t>
            </a:r>
          </a:p>
          <a:p>
            <a:pPr>
              <a:spcBef>
                <a:spcPts val="1200"/>
              </a:spcBef>
              <a:defRPr sz="1800"/>
            </a:pPr>
            <a:r>
              <a:t>  → Issue: Memory management</a:t>
            </a:r>
          </a:p>
          <a:p>
            <a:pPr>
              <a:spcBef>
                <a:spcPts val="1200"/>
              </a:spcBef>
              <a:defRPr sz="1800"/>
            </a:pPr>
            <a:r>
              <a:t>  → Solution: Chunking strategy optimization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rPr dirty="0"/>
              <a:t>📁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dirty="0"/>
          </a:p>
          <a:p>
            <a:pPr>
              <a:spcBef>
                <a:spcPts val="1200"/>
              </a:spcBef>
              <a:defRPr sz="1800"/>
            </a:pPr>
            <a:r>
              <a:rPr dirty="0" err="1"/>
              <a:t>rag_chatbot_working</a:t>
            </a:r>
            <a:r>
              <a:rPr dirty="0"/>
              <a:t>/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├── </a:t>
            </a:r>
            <a:r>
              <a:rPr dirty="0" err="1"/>
              <a:t>src</a:t>
            </a:r>
            <a:r>
              <a:rPr dirty="0"/>
              <a:t>/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│   ├── config.py          # Configuration settings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│   ├── ingestion.py       # Document processing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│   ├── retriever.py       # Semantic search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│   └── generator.py       # LLM integration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├── data/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│   ├── documents/         # Source documents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│   └── </a:t>
            </a:r>
            <a:r>
              <a:rPr dirty="0" err="1"/>
              <a:t>chroma_db</a:t>
            </a:r>
            <a:r>
              <a:rPr dirty="0"/>
              <a:t>/         # Vector database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├── tests/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│   └── test_questions.py  # Evaluation framework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├── deployment/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│   └── deployment_guide.md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├── app.py                 # </a:t>
            </a:r>
            <a:r>
              <a:rPr dirty="0" err="1"/>
              <a:t>Streamlit</a:t>
            </a:r>
            <a:r>
              <a:rPr dirty="0"/>
              <a:t> UI</a:t>
            </a:r>
          </a:p>
          <a:p>
            <a:pPr>
              <a:spcBef>
                <a:spcPts val="1200"/>
              </a:spcBef>
              <a:defRPr sz="1800"/>
            </a:pPr>
            <a:r>
              <a:rPr dirty="0"/>
              <a:t>└── requirements.txt       # Dependencies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Feature Additions:</a:t>
            </a:r>
          </a:p>
          <a:p>
            <a:pPr>
              <a:spcBef>
                <a:spcPts val="1200"/>
              </a:spcBef>
              <a:defRPr sz="1800"/>
            </a:pPr>
            <a:r>
              <a:t>  → Multi-language support</a:t>
            </a:r>
          </a:p>
          <a:p>
            <a:pPr>
              <a:spcBef>
                <a:spcPts val="1200"/>
              </a:spcBef>
              <a:defRPr sz="1800"/>
            </a:pPr>
            <a:r>
              <a:t>  → Voice input/output integration</a:t>
            </a:r>
          </a:p>
          <a:p>
            <a:pPr>
              <a:spcBef>
                <a:spcPts val="1200"/>
              </a:spcBef>
              <a:defRPr sz="1800"/>
            </a:pPr>
            <a:r>
              <a:t>  → Advanced filtering by date/author</a:t>
            </a:r>
          </a:p>
          <a:p>
            <a:pPr>
              <a:spcBef>
                <a:spcPts val="1200"/>
              </a:spcBef>
              <a:defRPr sz="1800"/>
            </a:pPr>
            <a:r>
              <a:t>  → Document summarization feature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Performance Improvements:</a:t>
            </a:r>
          </a:p>
          <a:p>
            <a:pPr>
              <a:spcBef>
                <a:spcPts val="1200"/>
              </a:spcBef>
              <a:defRPr sz="1800"/>
            </a:pPr>
            <a:r>
              <a:t>  → Caching layer for frequent queries</a:t>
            </a:r>
          </a:p>
          <a:p>
            <a:pPr>
              <a:spcBef>
                <a:spcPts val="1200"/>
              </a:spcBef>
              <a:defRPr sz="1800"/>
            </a:pPr>
            <a:r>
              <a:t>  → Batch processing for large uploads</a:t>
            </a:r>
          </a:p>
          <a:p>
            <a:pPr>
              <a:spcBef>
                <a:spcPts val="1200"/>
              </a:spcBef>
              <a:defRPr sz="1800"/>
            </a:pPr>
            <a:r>
              <a:t>  → GPU acceleration for embeddings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User Experience:</a:t>
            </a:r>
          </a:p>
          <a:p>
            <a:pPr>
              <a:spcBef>
                <a:spcPts val="1200"/>
              </a:spcBef>
              <a:defRPr sz="1800"/>
            </a:pPr>
            <a:r>
              <a:t>  → Mobile app development</a:t>
            </a:r>
          </a:p>
          <a:p>
            <a:pPr>
              <a:spcBef>
                <a:spcPts val="1200"/>
              </a:spcBef>
              <a:defRPr sz="1800"/>
            </a:pPr>
            <a:r>
              <a:t>  → Collaborative features (team sharing)</a:t>
            </a:r>
          </a:p>
          <a:p>
            <a:pPr>
              <a:spcBef>
                <a:spcPts val="1200"/>
              </a:spcBef>
              <a:defRPr sz="1800"/>
            </a:pPr>
            <a:r>
              <a:t>  → Analytics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📚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Technical Insights:</a:t>
            </a:r>
          </a:p>
          <a:p>
            <a:pPr>
              <a:spcBef>
                <a:spcPts val="1200"/>
              </a:spcBef>
              <a:defRPr sz="1800"/>
            </a:pPr>
            <a:r>
              <a:t>  → RAG significantly reduces AI hallucinations</a:t>
            </a:r>
          </a:p>
          <a:p>
            <a:pPr>
              <a:spcBef>
                <a:spcPts val="1200"/>
              </a:spcBef>
              <a:defRPr sz="1800"/>
            </a:pPr>
            <a:r>
              <a:t>  → Chunking strategy critical for accuracy</a:t>
            </a:r>
          </a:p>
          <a:p>
            <a:pPr>
              <a:spcBef>
                <a:spcPts val="1200"/>
              </a:spcBef>
              <a:defRPr sz="1800"/>
            </a:pPr>
            <a:r>
              <a:t>  → Vector databases enable fast semantic search</a:t>
            </a:r>
          </a:p>
          <a:p>
            <a:pPr>
              <a:spcBef>
                <a:spcPts val="1200"/>
              </a:spcBef>
              <a:defRPr sz="1800"/>
            </a:pPr>
            <a:r>
              <a:t>  → Prompt engineering improves response quality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Development Best Practices:</a:t>
            </a:r>
          </a:p>
          <a:p>
            <a:pPr>
              <a:spcBef>
                <a:spcPts val="1200"/>
              </a:spcBef>
              <a:defRPr sz="1800"/>
            </a:pPr>
            <a:r>
              <a:t>  → Modular code structure aids maintenance</a:t>
            </a:r>
          </a:p>
          <a:p>
            <a:pPr>
              <a:spcBef>
                <a:spcPts val="1200"/>
              </a:spcBef>
              <a:defRPr sz="1800"/>
            </a:pPr>
            <a:r>
              <a:t>  → Comprehensive testing catches issues early</a:t>
            </a:r>
          </a:p>
          <a:p>
            <a:pPr>
              <a:spcBef>
                <a:spcPts val="1200"/>
              </a:spcBef>
              <a:defRPr sz="1800"/>
            </a:pPr>
            <a:r>
              <a:t>  → Clear documentation essential for deployment</a:t>
            </a:r>
          </a:p>
          <a:p>
            <a:pPr>
              <a:spcBef>
                <a:spcPts val="1200"/>
              </a:spcBef>
              <a:defRPr sz="1800"/>
            </a:pPr>
            <a:r>
              <a:t>  → Version control prevents compatibility issues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AI Integration:</a:t>
            </a:r>
          </a:p>
          <a:p>
            <a:pPr>
              <a:spcBef>
                <a:spcPts val="1200"/>
              </a:spcBef>
              <a:defRPr sz="1800"/>
            </a:pPr>
            <a:r>
              <a:t>  → Balance between speed and accuracy</a:t>
            </a:r>
          </a:p>
          <a:p>
            <a:pPr>
              <a:spcBef>
                <a:spcPts val="1200"/>
              </a:spcBef>
              <a:defRPr sz="1800"/>
            </a:pPr>
            <a:r>
              <a:t>  → Source attribution builds user trust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88E5"/>
                </a:solidFill>
              </a:defRPr>
            </a:pPr>
            <a:r>
              <a:t>🎯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/>
          </a:p>
          <a:p>
            <a:pPr>
              <a:spcBef>
                <a:spcPts val="1200"/>
              </a:spcBef>
              <a:defRPr sz="1800"/>
            </a:pPr>
            <a:r>
              <a:t>Project Success:</a:t>
            </a:r>
          </a:p>
          <a:p>
            <a:pPr>
              <a:spcBef>
                <a:spcPts val="1200"/>
              </a:spcBef>
              <a:defRPr sz="1800"/>
            </a:pPr>
            <a:r>
              <a:t>  ✓ All 5 deliverables completed</a:t>
            </a:r>
          </a:p>
          <a:p>
            <a:pPr>
              <a:spcBef>
                <a:spcPts val="1200"/>
              </a:spcBef>
              <a:defRPr sz="1800"/>
            </a:pPr>
            <a:r>
              <a:t>  ✓ Fully functional RAG chatbot system</a:t>
            </a:r>
          </a:p>
          <a:p>
            <a:pPr>
              <a:spcBef>
                <a:spcPts val="1200"/>
              </a:spcBef>
              <a:defRPr sz="1800"/>
            </a:pPr>
            <a:r>
              <a:t>  ✓ Production-ready deployment</a:t>
            </a:r>
          </a:p>
          <a:p>
            <a:pPr>
              <a:spcBef>
                <a:spcPts val="1200"/>
              </a:spcBef>
              <a:defRPr sz="1800"/>
            </a:pPr>
            <a:r>
              <a:t>  ✓ Comprehensive documentation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Key Achievements:</a:t>
            </a:r>
          </a:p>
          <a:p>
            <a:pPr>
              <a:spcBef>
                <a:spcPts val="1200"/>
              </a:spcBef>
              <a:defRPr sz="1800"/>
            </a:pPr>
            <a:r>
              <a:t>  → Processed 273+ document chunks</a:t>
            </a:r>
          </a:p>
          <a:p>
            <a:pPr>
              <a:spcBef>
                <a:spcPts val="1200"/>
              </a:spcBef>
              <a:defRPr sz="1800"/>
            </a:pPr>
            <a:r>
              <a:t>  → 85%+ retrieval accuracy</a:t>
            </a:r>
          </a:p>
          <a:p>
            <a:pPr>
              <a:spcBef>
                <a:spcPts val="1200"/>
              </a:spcBef>
              <a:defRPr sz="1800"/>
            </a:pPr>
            <a:r>
              <a:t>  → Sub-3-second response times</a:t>
            </a:r>
          </a:p>
          <a:p>
            <a:pPr>
              <a:spcBef>
                <a:spcPts val="1200"/>
              </a:spcBef>
              <a:defRPr sz="1800"/>
            </a:pPr>
            <a:r>
              <a:t>  → Multiple deployment options</a:t>
            </a:r>
          </a:p>
          <a:p>
            <a:pPr>
              <a:spcBef>
                <a:spcPts val="1200"/>
              </a:spcBef>
              <a:defRPr sz="1800"/>
            </a:pPr>
            <a:endParaRPr/>
          </a:p>
          <a:p>
            <a:pPr>
              <a:spcBef>
                <a:spcPts val="1200"/>
              </a:spcBef>
              <a:defRPr sz="1800"/>
            </a:pPr>
            <a:r>
              <a:t>Impact:</a:t>
            </a:r>
          </a:p>
          <a:p>
            <a:pPr>
              <a:spcBef>
                <a:spcPts val="1200"/>
              </a:spcBef>
              <a:defRPr sz="1800"/>
            </a:pPr>
            <a:r>
              <a:t>  → Demonstrates practical AI application</a:t>
            </a:r>
          </a:p>
          <a:p>
            <a:pPr>
              <a:spcBef>
                <a:spcPts val="1200"/>
              </a:spcBef>
              <a:defRPr sz="1800"/>
            </a:pPr>
            <a:r>
              <a:t>  → Solves real-world knowledge retrieval problem</a:t>
            </a:r>
          </a:p>
          <a:p>
            <a:pPr>
              <a:spcBef>
                <a:spcPts val="1200"/>
              </a:spcBef>
              <a:defRPr sz="1800"/>
            </a:pPr>
            <a:r>
              <a:t>  → Scalable and maintainable architecture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88E5"/>
                </a:solidFill>
              </a:defRPr>
            </a:pPr>
            <a:r>
              <a:t>🎬 LIVE DEMO</a:t>
            </a:r>
          </a:p>
          <a:p>
            <a:br/>
            <a:br/>
            <a:r>
              <a:t>Let's see the RAG Chatbot in action!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88E5"/>
                </a:solidFill>
              </a:defRPr>
            </a:pPr>
            <a:r>
              <a:t>Thank You!</a:t>
            </a:r>
          </a:p>
          <a:p>
            <a:br/>
            <a:br/>
            <a:r>
              <a:t>Questions?</a:t>
            </a:r>
          </a:p>
          <a:p>
            <a:br/>
            <a:br/>
            <a:r>
              <a:t>GitHub: [Your GitHub]</a:t>
            </a:r>
          </a:p>
          <a:p>
            <a:pPr algn="ctr">
              <a:defRPr sz="2000"/>
            </a:pPr>
            <a:r>
              <a:t>Email: 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1300</Words>
  <Application>Microsoft Office PowerPoint</Application>
  <PresentationFormat>On-screen Show (4:3)</PresentationFormat>
  <Paragraphs>272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RAG Chatbot - Q&amp;A System</vt:lpstr>
      <vt:lpstr>📋 Project Overview</vt:lpstr>
      <vt:lpstr>What is RAG?</vt:lpstr>
      <vt:lpstr>🏗️ System Architecture</vt:lpstr>
      <vt:lpstr>PowerPoint Presentation</vt:lpstr>
      <vt:lpstr>💻 Technology Stack</vt:lpstr>
      <vt:lpstr>✨ Key Features</vt:lpstr>
      <vt:lpstr>📦 Deliverable 1: Data Pipeline</vt:lpstr>
      <vt:lpstr>📦 Deliverable 2: RAG Pipeline</vt:lpstr>
      <vt:lpstr>📦 Deliverable 3: Streamlit UI</vt:lpstr>
      <vt:lpstr>📦 Deliverable 4: Testing &amp; Evaluation</vt:lpstr>
      <vt:lpstr>📦 Deliverable 5: Deployment</vt:lpstr>
      <vt:lpstr>🎬 System Demo Flow</vt:lpstr>
      <vt:lpstr>📊 Sample Results</vt:lpstr>
      <vt:lpstr>⚡ Technical Challenges &amp; Solutions</vt:lpstr>
      <vt:lpstr>📁 Project Structure</vt:lpstr>
      <vt:lpstr>🚀 Future Enhancements</vt:lpstr>
      <vt:lpstr>📚 Lessons Learned</vt:lpstr>
      <vt:lpstr>🎯 Conclusion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Manohar Liyangi</cp:lastModifiedBy>
  <cp:revision>2</cp:revision>
  <dcterms:created xsi:type="dcterms:W3CDTF">2013-01-27T09:14:16Z</dcterms:created>
  <dcterms:modified xsi:type="dcterms:W3CDTF">2025-11-13T16:36:59Z</dcterms:modified>
  <cp:category/>
</cp:coreProperties>
</file>